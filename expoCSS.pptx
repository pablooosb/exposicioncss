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Noto Sans TC"/>
      <p:regular r:id="rId15"/>
      <p:bold r:id="rId16"/>
    </p:embeddedFont>
    <p:embeddedFont>
      <p:font typeface="Sor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TC-regular.fntdata"/><Relationship Id="rId14" Type="http://schemas.openxmlformats.org/officeDocument/2006/relationships/slide" Target="slides/slide10.xml"/><Relationship Id="rId17" Type="http://schemas.openxmlformats.org/officeDocument/2006/relationships/font" Target="fonts/Sora-regular.fntdata"/><Relationship Id="rId16" Type="http://schemas.openxmlformats.org/officeDocument/2006/relationships/font" Target="fonts/NotoSansTC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Sor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11" Type="http://schemas.openxmlformats.org/officeDocument/2006/relationships/image" Target="../media/image22.png"/><Relationship Id="rId10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17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title="nyszew8dj7sfouk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6280190" y="2155746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b="0" i="0" lang="en-US" sz="44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Nuevas Capacidades de CSS para Interfaces Modernas</a:t>
            </a:r>
            <a:endParaRPr b="0" i="0" sz="44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6280190" y="4741019"/>
            <a:ext cx="75564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Exploramos las propiedades CSS más recientes que están revolucionando el diseño de interfaces web: el cambio automático de tema con color-scheme, la mezcla dinámica de colores y las técnicas avanzadas de bordes.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nyszew8dj7sfouk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>
            <a:off x="793790" y="987981"/>
            <a:ext cx="1273659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b="0" i="0" lang="en-US" sz="44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Cambio de Tema Automático: color-scheme</a:t>
            </a:r>
            <a:endParaRPr b="0" i="0" sz="445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793790" y="249916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El problema antes</a:t>
            </a:r>
            <a:endParaRPr b="0" i="0" sz="220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793790" y="3080306"/>
            <a:ext cx="42051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Implementar modo oscuro requería duplicar variables de color, mantener clases complejas en el body, y gestionar múltiples estados manualmente.</a:t>
            </a:r>
            <a:endParaRPr b="0" i="0" sz="175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793790" y="4945380"/>
            <a:ext cx="2995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La solución moderna</a:t>
            </a:r>
            <a:endParaRPr b="0" i="0" sz="22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793790" y="5526524"/>
            <a:ext cx="42051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La propiedad </a:t>
            </a:r>
            <a:r>
              <a:rPr b="1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color-scheme: light dark;</a:t>
            </a: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le da una instrucción directa al motor de renderizado del navegador.</a:t>
            </a:r>
            <a:endParaRPr b="0" i="0" sz="1750" u="none" cap="none" strike="noStrike"/>
          </a:p>
        </p:txBody>
      </p:sp>
      <p:pic>
        <p:nvPicPr>
          <p:cNvPr descr="preencoded.png" id="71" name="Google Shape;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9981" y="2292072"/>
            <a:ext cx="8284131" cy="4694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 title="nyszew8dj7sfouk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/>
          <p:nvPr/>
        </p:nvSpPr>
        <p:spPr>
          <a:xfrm>
            <a:off x="744855" y="829508"/>
            <a:ext cx="9132451" cy="665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150"/>
              <a:buFont typeface="Sora"/>
              <a:buNone/>
            </a:pPr>
            <a:r>
              <a:rPr b="0" i="0" lang="en-US" sz="41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color-scheme: Más Allá del Fondo</a:t>
            </a:r>
            <a:endParaRPr b="0" i="0" sz="4150" u="none" cap="none" strike="noStrike"/>
          </a:p>
        </p:txBody>
      </p:sp>
      <p:sp>
        <p:nvSpPr>
          <p:cNvPr id="79" name="Google Shape;79;p15"/>
          <p:cNvSpPr/>
          <p:nvPr/>
        </p:nvSpPr>
        <p:spPr>
          <a:xfrm>
            <a:off x="744855" y="1893927"/>
            <a:ext cx="6470452" cy="2045851"/>
          </a:xfrm>
          <a:prstGeom prst="roundRect">
            <a:avLst>
              <a:gd fmla="val 1560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620" y="2106692"/>
            <a:ext cx="638413" cy="638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3118" y="2282190"/>
            <a:ext cx="287298" cy="28729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957620" y="2944773"/>
            <a:ext cx="2660333" cy="33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Sora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Fondo adaptable</a:t>
            </a:r>
            <a:endParaRPr b="0" i="0" sz="2050" u="none" cap="none" strike="noStrike"/>
          </a:p>
        </p:txBody>
      </p:sp>
      <p:sp>
        <p:nvSpPr>
          <p:cNvPr id="83" name="Google Shape;83;p15"/>
          <p:cNvSpPr/>
          <p:nvPr/>
        </p:nvSpPr>
        <p:spPr>
          <a:xfrm>
            <a:off x="957620" y="3396972"/>
            <a:ext cx="6044922" cy="33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Cambia automáticamente según preferencias del sistema</a:t>
            </a:r>
            <a:endParaRPr b="0" i="0" sz="165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7414974" y="1893927"/>
            <a:ext cx="6470571" cy="2045851"/>
          </a:xfrm>
          <a:prstGeom prst="roundRect">
            <a:avLst>
              <a:gd fmla="val 1560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7739" y="2106692"/>
            <a:ext cx="638413" cy="638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6" name="Google Shape;8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03237" y="2282190"/>
            <a:ext cx="287298" cy="28729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7627739" y="2944773"/>
            <a:ext cx="3246715" cy="33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Sora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Controles de formulario</a:t>
            </a:r>
            <a:endParaRPr b="0" i="0" sz="2050" u="none" cap="none" strike="noStrike"/>
          </a:p>
        </p:txBody>
      </p:sp>
      <p:sp>
        <p:nvSpPr>
          <p:cNvPr id="88" name="Google Shape;88;p15"/>
          <p:cNvSpPr/>
          <p:nvPr/>
        </p:nvSpPr>
        <p:spPr>
          <a:xfrm>
            <a:off x="7627739" y="3396972"/>
            <a:ext cx="6045041" cy="33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Inputs, selects y checkboxes se adaptan al modo</a:t>
            </a:r>
            <a:endParaRPr b="0" i="0" sz="165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744855" y="4139446"/>
            <a:ext cx="6470452" cy="2375892"/>
          </a:xfrm>
          <a:prstGeom prst="roundRect">
            <a:avLst>
              <a:gd fmla="val 1344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620" y="4352211"/>
            <a:ext cx="638413" cy="638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1" name="Google Shape;9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118" y="4527709"/>
            <a:ext cx="287298" cy="28729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/>
          <p:nvPr/>
        </p:nvSpPr>
        <p:spPr>
          <a:xfrm>
            <a:off x="957620" y="5190292"/>
            <a:ext cx="3490079" cy="33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Sora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Barras de desplazamiento</a:t>
            </a:r>
            <a:endParaRPr b="0" i="0" sz="205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957620" y="5642491"/>
            <a:ext cx="6044922" cy="33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Elementos de scroll cambian de apariencia</a:t>
            </a:r>
            <a:endParaRPr b="0" i="0" sz="165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7414974" y="4139446"/>
            <a:ext cx="6470571" cy="2375892"/>
          </a:xfrm>
          <a:prstGeom prst="roundRect">
            <a:avLst>
              <a:gd fmla="val 1344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7739" y="4352211"/>
            <a:ext cx="638413" cy="638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803237" y="4527709"/>
            <a:ext cx="287298" cy="28729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7627739" y="5190292"/>
            <a:ext cx="2677478" cy="3324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Sora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Colores del sistema</a:t>
            </a:r>
            <a:endParaRPr b="0" i="0" sz="205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7627739" y="5642491"/>
            <a:ext cx="6045041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Respetan las preferencias de usuario desde el primer momento</a:t>
            </a:r>
            <a:endParaRPr b="0" i="0" sz="1650" u="none" cap="none" strike="noStrike"/>
          </a:p>
        </p:txBody>
      </p:sp>
      <p:sp>
        <p:nvSpPr>
          <p:cNvPr id="99" name="Google Shape;99;p15"/>
          <p:cNvSpPr/>
          <p:nvPr/>
        </p:nvSpPr>
        <p:spPr>
          <a:xfrm>
            <a:off x="744855" y="6739890"/>
            <a:ext cx="13140690" cy="66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Es la forma más eficiente de crear interfaces que se adaptan a las preferencias del usuario de manera nativa, sin JavaScript ni clases adicionales.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 title="nyszew8dj7sfouk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6" name="Google Shape;1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>
            <a:off x="6276365" y="1637742"/>
            <a:ext cx="7556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b="0" i="0" lang="en-US" sz="44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Mezclas de Colores con color-mix()</a:t>
            </a:r>
            <a:endParaRPr b="0" i="0" sz="4450" u="none" cap="none" strike="noStrike"/>
          </a:p>
        </p:txBody>
      </p:sp>
      <p:sp>
        <p:nvSpPr>
          <p:cNvPr id="108" name="Google Shape;108;p16"/>
          <p:cNvSpPr/>
          <p:nvPr/>
        </p:nvSpPr>
        <p:spPr>
          <a:xfrm>
            <a:off x="6276377" y="357831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Antes</a:t>
            </a:r>
            <a:endParaRPr b="0" i="0" sz="2200" u="none" cap="none" strike="noStrike"/>
          </a:p>
        </p:txBody>
      </p:sp>
      <p:sp>
        <p:nvSpPr>
          <p:cNvPr id="109" name="Google Shape;109;p16"/>
          <p:cNvSpPr/>
          <p:nvPr/>
        </p:nvSpPr>
        <p:spPr>
          <a:xfrm>
            <a:off x="6276377" y="4159462"/>
            <a:ext cx="3501600" cy="21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Char char="•"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Calcular nuevos códigos HEX manualmente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Char char="•"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Usar funciones de preprocesadores como SASS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Char char="•"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Mantener múltiples variables por variación</a:t>
            </a:r>
            <a:endParaRPr b="0" i="0" sz="1750" u="none" cap="none" strike="noStrike"/>
          </a:p>
        </p:txBody>
      </p:sp>
      <p:sp>
        <p:nvSpPr>
          <p:cNvPr id="110" name="Google Shape;110;p16"/>
          <p:cNvSpPr/>
          <p:nvPr/>
        </p:nvSpPr>
        <p:spPr>
          <a:xfrm>
            <a:off x="10338909" y="357831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Ahora</a:t>
            </a:r>
            <a:endParaRPr b="0" i="0" sz="2200" u="none" cap="none" strike="noStrike"/>
          </a:p>
        </p:txBody>
      </p:sp>
      <p:sp>
        <p:nvSpPr>
          <p:cNvPr id="111" name="Google Shape;111;p16"/>
          <p:cNvSpPr/>
          <p:nvPr/>
        </p:nvSpPr>
        <p:spPr>
          <a:xfrm>
            <a:off x="10338909" y="4159462"/>
            <a:ext cx="35016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1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color-mix()</a:t>
            </a: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permite mezclar dos colores en un espacio de color específico: sRGB, LCH o OKLCH.</a:t>
            </a:r>
            <a:endParaRPr b="0" i="0" sz="1750" u="none" cap="none" strike="noStrike"/>
          </a:p>
        </p:txBody>
      </p:sp>
      <p:sp>
        <p:nvSpPr>
          <p:cNvPr id="112" name="Google Shape;112;p16"/>
          <p:cNvSpPr/>
          <p:nvPr/>
        </p:nvSpPr>
        <p:spPr>
          <a:xfrm>
            <a:off x="10338909" y="5452243"/>
            <a:ext cx="35016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Ejemplo: </a:t>
            </a:r>
            <a:r>
              <a:rPr b="0" i="0" lang="en-US" sz="1750" u="none" cap="none" strike="noStrike">
                <a:solidFill>
                  <a:srgbClr val="E0D6DE"/>
                </a:solidFill>
                <a:highlight>
                  <a:srgbClr val="141419"/>
                </a:highlight>
                <a:latin typeface="Consolas"/>
                <a:ea typeface="Consolas"/>
                <a:cs typeface="Consolas"/>
                <a:sym typeface="Consolas"/>
              </a:rPr>
              <a:t>color-mix(in srgb, #0066ff 90%, white 10%)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 title="nyszew8dj7sfouk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793790" y="1582341"/>
            <a:ext cx="876323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b="0" i="0" lang="en-US" sz="44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color-mix(): Espacios de Color</a:t>
            </a:r>
            <a:endParaRPr b="0" i="0" sz="4450" u="none" cap="none" strike="noStrike"/>
          </a:p>
        </p:txBody>
      </p:sp>
      <p:sp>
        <p:nvSpPr>
          <p:cNvPr id="120" name="Google Shape;120;p17"/>
          <p:cNvSpPr/>
          <p:nvPr/>
        </p:nvSpPr>
        <p:spPr>
          <a:xfrm>
            <a:off x="793790" y="2744748"/>
            <a:ext cx="4196358" cy="2774156"/>
          </a:xfrm>
          <a:prstGeom prst="roundRect">
            <a:avLst>
              <a:gd fmla="val 1226" name="adj"/>
            </a:avLst>
          </a:prstGeom>
          <a:solidFill>
            <a:srgbClr val="07070C"/>
          </a:solidFill>
          <a:ln cap="flat" cmpd="sng" w="30475">
            <a:solidFill>
              <a:srgbClr val="3F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824270" y="2775228"/>
            <a:ext cx="4135398" cy="680442"/>
          </a:xfrm>
          <a:prstGeom prst="rect">
            <a:avLst/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2721888" y="290274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650"/>
              <a:buFont typeface="Sora"/>
              <a:buNone/>
            </a:pPr>
            <a:r>
              <a:rPr b="0" i="0" lang="en-US" sz="26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1</a:t>
            </a:r>
            <a:endParaRPr b="0" i="0" sz="2650" u="none" cap="none" strike="noStrike"/>
          </a:p>
        </p:txBody>
      </p:sp>
      <p:sp>
        <p:nvSpPr>
          <p:cNvPr id="123" name="Google Shape;123;p17"/>
          <p:cNvSpPr/>
          <p:nvPr/>
        </p:nvSpPr>
        <p:spPr>
          <a:xfrm>
            <a:off x="1051084" y="368248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sRGB</a:t>
            </a:r>
            <a:endParaRPr b="0" i="0" sz="220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1051084" y="4172902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Espacio de color estándar para la web. Compatible con todos los navegadores modernos.</a:t>
            </a:r>
            <a:endParaRPr b="0" i="0" sz="1750" u="none" cap="none" strike="noStrike"/>
          </a:p>
        </p:txBody>
      </p:sp>
      <p:sp>
        <p:nvSpPr>
          <p:cNvPr id="125" name="Google Shape;125;p17"/>
          <p:cNvSpPr/>
          <p:nvPr/>
        </p:nvSpPr>
        <p:spPr>
          <a:xfrm>
            <a:off x="5216962" y="2744748"/>
            <a:ext cx="4196358" cy="2774156"/>
          </a:xfrm>
          <a:prstGeom prst="roundRect">
            <a:avLst>
              <a:gd fmla="val 1226" name="adj"/>
            </a:avLst>
          </a:prstGeom>
          <a:solidFill>
            <a:srgbClr val="07070C"/>
          </a:solidFill>
          <a:ln cap="flat" cmpd="sng" w="30475">
            <a:solidFill>
              <a:srgbClr val="3F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247442" y="2775228"/>
            <a:ext cx="4135398" cy="680442"/>
          </a:xfrm>
          <a:prstGeom prst="rect">
            <a:avLst/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7145060" y="290274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650"/>
              <a:buFont typeface="Sora"/>
              <a:buNone/>
            </a:pPr>
            <a:r>
              <a:rPr b="0" i="0" lang="en-US" sz="26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b="0" i="0" sz="2650" u="none" cap="none" strike="noStrike"/>
          </a:p>
        </p:txBody>
      </p:sp>
      <p:sp>
        <p:nvSpPr>
          <p:cNvPr id="128" name="Google Shape;128;p17"/>
          <p:cNvSpPr/>
          <p:nvPr/>
        </p:nvSpPr>
        <p:spPr>
          <a:xfrm>
            <a:off x="5474256" y="368248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LCH</a:t>
            </a:r>
            <a:endParaRPr b="0" i="0" sz="2200" u="none" cap="none" strike="noStrike"/>
          </a:p>
        </p:txBody>
      </p:sp>
      <p:sp>
        <p:nvSpPr>
          <p:cNvPr id="129" name="Google Shape;129;p17"/>
          <p:cNvSpPr/>
          <p:nvPr/>
        </p:nvSpPr>
        <p:spPr>
          <a:xfrm>
            <a:off x="5474256" y="4172902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Espacio perceptual uniforme que permite mezclas más naturales y predecibles.</a:t>
            </a:r>
            <a:endParaRPr b="0" i="0" sz="1750" u="none" cap="none" strike="noStrike"/>
          </a:p>
        </p:txBody>
      </p:sp>
      <p:sp>
        <p:nvSpPr>
          <p:cNvPr id="130" name="Google Shape;130;p17"/>
          <p:cNvSpPr/>
          <p:nvPr/>
        </p:nvSpPr>
        <p:spPr>
          <a:xfrm>
            <a:off x="9640133" y="2744748"/>
            <a:ext cx="4196358" cy="2774156"/>
          </a:xfrm>
          <a:prstGeom prst="roundRect">
            <a:avLst>
              <a:gd fmla="val 1226" name="adj"/>
            </a:avLst>
          </a:prstGeom>
          <a:solidFill>
            <a:srgbClr val="07070C"/>
          </a:solidFill>
          <a:ln cap="flat" cmpd="sng" w="30475">
            <a:solidFill>
              <a:srgbClr val="3F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9670613" y="2775228"/>
            <a:ext cx="4135398" cy="680442"/>
          </a:xfrm>
          <a:prstGeom prst="rect">
            <a:avLst/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11568232" y="2902744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650"/>
              <a:buFont typeface="Sora"/>
              <a:buNone/>
            </a:pPr>
            <a:r>
              <a:rPr b="0" i="0" lang="en-US" sz="26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b="0" i="0" sz="265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9897427" y="368248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OKLCH</a:t>
            </a:r>
            <a:endParaRPr b="0" i="0" sz="220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9897427" y="4172902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Versión mejorada de LCH con mejor cobertura de gamut y precisión.</a:t>
            </a:r>
            <a:endParaRPr b="0" i="0" sz="1750" u="none" cap="none" strike="noStrike"/>
          </a:p>
        </p:txBody>
      </p:sp>
      <p:sp>
        <p:nvSpPr>
          <p:cNvPr id="135" name="Google Shape;135;p17"/>
          <p:cNvSpPr/>
          <p:nvPr/>
        </p:nvSpPr>
        <p:spPr>
          <a:xfrm>
            <a:off x="1133951" y="6029206"/>
            <a:ext cx="1270265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97B8FF"/>
                </a:solidFill>
                <a:latin typeface="Noto Sans TC"/>
                <a:ea typeface="Noto Sans TC"/>
                <a:cs typeface="Noto Sans TC"/>
                <a:sym typeface="Noto Sans TC"/>
              </a:rPr>
              <a:t>"Mezcla mi color principal con blanco al 10%"</a:t>
            </a: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- Una sola línea para crear variantes de hover, active o disabled.</a:t>
            </a:r>
            <a:endParaRPr b="0" i="0" sz="1750" u="none" cap="none" strike="noStrike"/>
          </a:p>
        </p:txBody>
      </p:sp>
      <p:sp>
        <p:nvSpPr>
          <p:cNvPr id="136" name="Google Shape;136;p17"/>
          <p:cNvSpPr/>
          <p:nvPr/>
        </p:nvSpPr>
        <p:spPr>
          <a:xfrm>
            <a:off x="793790" y="5774055"/>
            <a:ext cx="30480" cy="873204"/>
          </a:xfrm>
          <a:prstGeom prst="rect">
            <a:avLst/>
          </a:prstGeom>
          <a:solidFill>
            <a:srgbClr val="97B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8" title="nyszew8dj7sfouk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/>
          <p:nvPr/>
        </p:nvSpPr>
        <p:spPr>
          <a:xfrm>
            <a:off x="793790" y="663178"/>
            <a:ext cx="664333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b="0" i="0" lang="en-US" sz="44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Bordes con Degradado</a:t>
            </a:r>
            <a:endParaRPr b="0" i="0" sz="4450" u="none" cap="none" strike="noStrike"/>
          </a:p>
        </p:txBody>
      </p:sp>
      <p:sp>
        <p:nvSpPr>
          <p:cNvPr id="144" name="Google Shape;144;p18"/>
          <p:cNvSpPr/>
          <p:nvPr/>
        </p:nvSpPr>
        <p:spPr>
          <a:xfrm>
            <a:off x="793790" y="1938933"/>
            <a:ext cx="327779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Técnica: border-image</a:t>
            </a:r>
            <a:endParaRPr b="0" i="0" sz="2200" u="none" cap="none" strike="noStrike"/>
          </a:p>
        </p:txBody>
      </p:sp>
      <p:sp>
        <p:nvSpPr>
          <p:cNvPr id="145" name="Google Shape;145;p18"/>
          <p:cNvSpPr/>
          <p:nvPr/>
        </p:nvSpPr>
        <p:spPr>
          <a:xfrm>
            <a:off x="793790" y="2520077"/>
            <a:ext cx="420516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En lugar de usar un color sólido, le pasamos una función de degradado (</a:t>
            </a:r>
            <a:r>
              <a:rPr b="1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linear-gradient</a:t>
            </a: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o </a:t>
            </a:r>
            <a:r>
              <a:rPr b="1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radial-gradient</a:t>
            </a: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).</a:t>
            </a:r>
            <a:endParaRPr b="0" i="0" sz="1750" u="none" cap="none" strike="noStrike"/>
          </a:p>
        </p:txBody>
      </p:sp>
      <p:sp>
        <p:nvSpPr>
          <p:cNvPr id="146" name="Google Shape;146;p18"/>
          <p:cNvSpPr/>
          <p:nvPr/>
        </p:nvSpPr>
        <p:spPr>
          <a:xfrm>
            <a:off x="793790" y="3812858"/>
            <a:ext cx="420516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El navegador trata el degradado como una imagen y la "estira" a lo largo del borde.</a:t>
            </a:r>
            <a:endParaRPr b="0" i="0" sz="1750" u="none" cap="none" strike="noStrike"/>
          </a:p>
        </p:txBody>
      </p:sp>
      <p:sp>
        <p:nvSpPr>
          <p:cNvPr id="147" name="Google Shape;147;p18"/>
          <p:cNvSpPr/>
          <p:nvPr/>
        </p:nvSpPr>
        <p:spPr>
          <a:xfrm>
            <a:off x="793790" y="5156716"/>
            <a:ext cx="4205168" cy="2154555"/>
          </a:xfrm>
          <a:prstGeom prst="roundRect">
            <a:avLst>
              <a:gd fmla="val 1579" name="adj"/>
            </a:avLst>
          </a:prstGeom>
          <a:solidFill>
            <a:srgbClr val="1414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782475" y="5156726"/>
            <a:ext cx="4227900" cy="2400900"/>
          </a:xfrm>
          <a:prstGeom prst="roundRect">
            <a:avLst>
              <a:gd fmla="val 1579" name="adj"/>
            </a:avLst>
          </a:prstGeom>
          <a:solidFill>
            <a:srgbClr val="1414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1009293" y="5326737"/>
            <a:ext cx="3774162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highlight>
                  <a:srgbClr val="141419"/>
                </a:highlight>
                <a:latin typeface="Consolas"/>
                <a:ea typeface="Consolas"/>
                <a:cs typeface="Consolas"/>
                <a:sym typeface="Consolas"/>
              </a:rPr>
              <a:t>border-image: linear-gradient(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highlight>
                  <a:srgbClr val="141419"/>
                </a:highlight>
                <a:latin typeface="Consolas"/>
                <a:ea typeface="Consolas"/>
                <a:cs typeface="Consolas"/>
                <a:sym typeface="Consolas"/>
              </a:rPr>
              <a:t>  45deg, 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highlight>
                  <a:srgbClr val="141419"/>
                </a:highlight>
                <a:latin typeface="Consolas"/>
                <a:ea typeface="Consolas"/>
                <a:cs typeface="Consolas"/>
                <a:sym typeface="Consolas"/>
              </a:rPr>
              <a:t>  #97b8ff, 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highlight>
                  <a:srgbClr val="141419"/>
                </a:highlight>
                <a:latin typeface="Consolas"/>
                <a:ea typeface="Consolas"/>
                <a:cs typeface="Consolas"/>
                <a:sym typeface="Consolas"/>
              </a:rPr>
              <a:t>  #7AF0FF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highlight>
                  <a:srgbClr val="141419"/>
                </a:highlight>
                <a:latin typeface="Consolas"/>
                <a:ea typeface="Consolas"/>
                <a:cs typeface="Consolas"/>
                <a:sym typeface="Consolas"/>
              </a:rPr>
              <a:t>) 1;</a:t>
            </a:r>
            <a:endParaRPr b="0" i="0" sz="1750" u="none" cap="none" strike="noStrike"/>
          </a:p>
        </p:txBody>
      </p:sp>
      <p:pic>
        <p:nvPicPr>
          <p:cNvPr descr="preencoded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9981" y="2292072"/>
            <a:ext cx="8284131" cy="4694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title="nyszew8dj7sfouk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/>
          <p:nvPr/>
        </p:nvSpPr>
        <p:spPr>
          <a:xfrm>
            <a:off x="6251258" y="661273"/>
            <a:ext cx="7614285" cy="1365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300"/>
              <a:buFont typeface="Sora"/>
              <a:buNone/>
            </a:pPr>
            <a:r>
              <a:rPr b="0" i="0" lang="en-US" sz="43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Bordes Abstractos: Sintaxis Completa</a:t>
            </a:r>
            <a:endParaRPr b="0" i="0" sz="4300" u="none" cap="none" strike="noStrike"/>
          </a:p>
        </p:txBody>
      </p:sp>
      <p:sp>
        <p:nvSpPr>
          <p:cNvPr id="159" name="Google Shape;159;p19"/>
          <p:cNvSpPr/>
          <p:nvPr/>
        </p:nvSpPr>
        <p:spPr>
          <a:xfrm>
            <a:off x="6251258" y="2111335"/>
            <a:ext cx="4266843" cy="409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550"/>
              <a:buFont typeface="Sora"/>
              <a:buNone/>
            </a:pPr>
            <a:r>
              <a:rPr b="0" i="0" lang="en-US" sz="25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Sintaxis de border-radius</a:t>
            </a:r>
            <a:endParaRPr b="0" i="0" sz="2550" u="none" cap="none" strike="noStrike"/>
          </a:p>
        </p:txBody>
      </p:sp>
      <p:sp>
        <p:nvSpPr>
          <p:cNvPr id="160" name="Google Shape;160;p19"/>
          <p:cNvSpPr/>
          <p:nvPr/>
        </p:nvSpPr>
        <p:spPr>
          <a:xfrm>
            <a:off x="6251258" y="2836783"/>
            <a:ext cx="7614285" cy="686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00"/>
              <a:buFont typeface="Noto Sans TC"/>
              <a:buNone/>
            </a:pPr>
            <a:r>
              <a:rPr b="0" i="0" lang="en-US" sz="17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Usando la barra inclinada, podemos definir radios diferentes para cada esquina en sus ejes horizontal y vertical:</a:t>
            </a:r>
            <a:endParaRPr b="0" i="0" sz="1700" u="none" cap="none" strike="noStrike"/>
          </a:p>
        </p:txBody>
      </p:sp>
      <p:sp>
        <p:nvSpPr>
          <p:cNvPr id="161" name="Google Shape;161;p19"/>
          <p:cNvSpPr/>
          <p:nvPr/>
        </p:nvSpPr>
        <p:spPr>
          <a:xfrm>
            <a:off x="6251258" y="3759875"/>
            <a:ext cx="7614285" cy="1013936"/>
          </a:xfrm>
          <a:prstGeom prst="roundRect">
            <a:avLst>
              <a:gd fmla="val 3233" name="adj"/>
            </a:avLst>
          </a:prstGeom>
          <a:solidFill>
            <a:srgbClr val="1414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6240423" y="3759875"/>
            <a:ext cx="7635954" cy="1013936"/>
          </a:xfrm>
          <a:prstGeom prst="roundRect">
            <a:avLst>
              <a:gd fmla="val 3233" name="adj"/>
            </a:avLst>
          </a:prstGeom>
          <a:solidFill>
            <a:srgbClr val="1414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6458903" y="3923705"/>
            <a:ext cx="7198995" cy="686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0D6DE"/>
                </a:solidFill>
                <a:highlight>
                  <a:srgbClr val="141419"/>
                </a:highlight>
                <a:latin typeface="Consolas"/>
                <a:ea typeface="Consolas"/>
                <a:cs typeface="Consolas"/>
                <a:sym typeface="Consolas"/>
              </a:rPr>
              <a:t>border-radius: 30% 70% 70% 30% / </a:t>
            </a:r>
            <a:endParaRPr b="0" i="0" sz="1700" u="none" cap="none" strike="noStrike"/>
          </a:p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0D6DE"/>
                </a:solidFill>
                <a:highlight>
                  <a:srgbClr val="141419"/>
                </a:highlight>
                <a:latin typeface="Consolas"/>
                <a:ea typeface="Consolas"/>
                <a:cs typeface="Consolas"/>
                <a:sym typeface="Consolas"/>
              </a:rPr>
              <a:t>              30% 30% 70% 70%;</a:t>
            </a:r>
            <a:endParaRPr b="0" i="0" sz="1700" u="none" cap="none" strike="noStrike"/>
          </a:p>
        </p:txBody>
      </p:sp>
      <p:pic>
        <p:nvPicPr>
          <p:cNvPr descr="preencoded.png" id="164" name="Google Shape;16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1258" y="5130820"/>
            <a:ext cx="109180" cy="1091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6570940" y="5010626"/>
            <a:ext cx="7294602" cy="686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00"/>
              <a:buFont typeface="Noto Sans TC"/>
              <a:buNone/>
            </a:pPr>
            <a:r>
              <a:rPr b="0" i="0" lang="en-US" sz="17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Primer grupo: radios horizontales (top-left, top-right, bottom-right, bottom-left)</a:t>
            </a:r>
            <a:endParaRPr b="0" i="0" sz="1700" u="none" cap="none" strike="noStrike"/>
          </a:p>
        </p:txBody>
      </p:sp>
      <p:pic>
        <p:nvPicPr>
          <p:cNvPr descr="preencoded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1258" y="6238101"/>
            <a:ext cx="109180" cy="1091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/>
          <p:nvPr/>
        </p:nvSpPr>
        <p:spPr>
          <a:xfrm>
            <a:off x="6570940" y="6117908"/>
            <a:ext cx="7294602" cy="343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00"/>
              <a:buFont typeface="Noto Sans TC"/>
              <a:buNone/>
            </a:pPr>
            <a:r>
              <a:rPr b="0" i="0" lang="en-US" sz="17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Segundo grupo tras la barra: radios verticales para cada esquina</a:t>
            </a:r>
            <a:endParaRPr b="0" i="0" sz="1700" u="none" cap="none" strike="noStrike"/>
          </a:p>
        </p:txBody>
      </p:sp>
      <p:pic>
        <p:nvPicPr>
          <p:cNvPr descr="preencoded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1258" y="7002244"/>
            <a:ext cx="109180" cy="10918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6570940" y="6882051"/>
            <a:ext cx="7294602" cy="686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00"/>
              <a:buFont typeface="Noto Sans TC"/>
              <a:buNone/>
            </a:pPr>
            <a:r>
              <a:rPr b="0" i="0" lang="en-US" sz="17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Permite crear formas abstractas y orgánicas imposibles con bordes simples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title="nyszew8dj7sfouk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793790" y="76378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b="0" i="0" lang="en-US" sz="44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Bordes Animados</a:t>
            </a:r>
            <a:endParaRPr b="0" i="0" sz="4450" u="none" cap="none" strike="noStrike"/>
          </a:p>
        </p:txBody>
      </p:sp>
      <p:sp>
        <p:nvSpPr>
          <p:cNvPr id="177" name="Google Shape;177;p20"/>
          <p:cNvSpPr/>
          <p:nvPr/>
        </p:nvSpPr>
        <p:spPr>
          <a:xfrm>
            <a:off x="793790" y="1869466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Técnica básica</a:t>
            </a:r>
            <a:endParaRPr b="0" i="0" sz="2200" u="none" cap="none" strike="noStrike"/>
          </a:p>
        </p:txBody>
      </p:sp>
      <p:sp>
        <p:nvSpPr>
          <p:cNvPr id="178" name="Google Shape;178;p20"/>
          <p:cNvSpPr/>
          <p:nvPr/>
        </p:nvSpPr>
        <p:spPr>
          <a:xfrm>
            <a:off x="793790" y="2450610"/>
            <a:ext cx="42051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Usamos un gradiente cónico en el pseudo-elemento </a:t>
            </a:r>
            <a:r>
              <a:rPr b="1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::before</a:t>
            </a: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que rota de manera infinita detrás de nuestra caja.</a:t>
            </a:r>
            <a:endParaRPr b="0" i="0" sz="1750" u="none" cap="none" strike="noStrike"/>
          </a:p>
        </p:txBody>
      </p:sp>
      <p:sp>
        <p:nvSpPr>
          <p:cNvPr id="179" name="Google Shape;179;p20"/>
          <p:cNvSpPr/>
          <p:nvPr/>
        </p:nvSpPr>
        <p:spPr>
          <a:xfrm>
            <a:off x="793790" y="3743390"/>
            <a:ext cx="42051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El usuario solo ve la línea del borde, pero lo que realmente está ocurriendo es que el gradiente se mueve continuamente.</a:t>
            </a:r>
            <a:endParaRPr b="0" i="0" sz="1750" u="none" cap="none" strike="noStrike"/>
          </a:p>
        </p:txBody>
      </p:sp>
      <p:sp>
        <p:nvSpPr>
          <p:cNvPr id="180" name="Google Shape;180;p20"/>
          <p:cNvSpPr/>
          <p:nvPr/>
        </p:nvSpPr>
        <p:spPr>
          <a:xfrm>
            <a:off x="793790" y="559188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Uso común</a:t>
            </a:r>
            <a:endParaRPr b="0" i="0" sz="2200" u="none" cap="none" strike="noStrike"/>
          </a:p>
        </p:txBody>
      </p:sp>
      <p:sp>
        <p:nvSpPr>
          <p:cNvPr id="181" name="Google Shape;181;p20"/>
          <p:cNvSpPr/>
          <p:nvPr/>
        </p:nvSpPr>
        <p:spPr>
          <a:xfrm>
            <a:off x="793790" y="6173033"/>
            <a:ext cx="420516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Muy popular en interfaces gaming, dashboards modernos y efectos de carga.</a:t>
            </a:r>
            <a:endParaRPr b="0" i="0" sz="1750" u="none" cap="none" strike="noStrike"/>
          </a:p>
        </p:txBody>
      </p:sp>
      <p:pic>
        <p:nvPicPr>
          <p:cNvPr descr="preencoded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9981" y="2292072"/>
            <a:ext cx="8284131" cy="4694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title="nyszew8dj7sfouk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/>
          <p:nvPr/>
        </p:nvSpPr>
        <p:spPr>
          <a:xfrm>
            <a:off x="793790" y="127265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b="0" i="0" lang="en-US" sz="44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Borde de Cristal</a:t>
            </a:r>
            <a:endParaRPr b="0" i="0" sz="4450" u="none" cap="none" strike="noStrike"/>
          </a:p>
        </p:txBody>
      </p:sp>
      <p:pic>
        <p:nvPicPr>
          <p:cNvPr descr="preencoded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43506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/>
          <p:nvPr/>
        </p:nvSpPr>
        <p:spPr>
          <a:xfrm>
            <a:off x="1020604" y="35691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Paso 1</a:t>
            </a:r>
            <a:endParaRPr b="0" i="0" sz="2200" u="none" cap="none" strike="noStrike"/>
          </a:p>
        </p:txBody>
      </p:sp>
      <p:sp>
        <p:nvSpPr>
          <p:cNvPr id="192" name="Google Shape;192;p21"/>
          <p:cNvSpPr/>
          <p:nvPr/>
        </p:nvSpPr>
        <p:spPr>
          <a:xfrm>
            <a:off x="1020604" y="4059555"/>
            <a:ext cx="389393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Llamar a </a:t>
            </a:r>
            <a:r>
              <a:rPr b="1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background</a:t>
            </a: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con el gradiente (cónico o linear) para el color del fondo</a:t>
            </a:r>
            <a:endParaRPr b="0" i="0" sz="1750" u="none" cap="none" strike="noStrike"/>
          </a:p>
        </p:txBody>
      </p:sp>
      <p:pic>
        <p:nvPicPr>
          <p:cNvPr descr="preencoded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1357" y="243506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/>
          <p:nvPr/>
        </p:nvSpPr>
        <p:spPr>
          <a:xfrm>
            <a:off x="5368171" y="35691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Paso 2</a:t>
            </a:r>
            <a:endParaRPr b="0" i="0" sz="2200" u="none" cap="none" strike="noStrike"/>
          </a:p>
        </p:txBody>
      </p:sp>
      <p:sp>
        <p:nvSpPr>
          <p:cNvPr id="195" name="Google Shape;195;p21"/>
          <p:cNvSpPr/>
          <p:nvPr/>
        </p:nvSpPr>
        <p:spPr>
          <a:xfrm>
            <a:off x="5368171" y="4059555"/>
            <a:ext cx="389393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Llamar al gradiente </a:t>
            </a:r>
            <a:r>
              <a:rPr b="1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una segunda vez</a:t>
            </a: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para el borde</a:t>
            </a:r>
            <a:endParaRPr b="0" i="0" sz="1750" u="none" cap="none" strike="noStrike"/>
          </a:p>
        </p:txBody>
      </p:sp>
      <p:pic>
        <p:nvPicPr>
          <p:cNvPr descr="preencoded.png" id="196" name="Google Shape;19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88924" y="243506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/>
          <p:nvPr/>
        </p:nvSpPr>
        <p:spPr>
          <a:xfrm>
            <a:off x="9715738" y="35691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Resultado</a:t>
            </a:r>
            <a:endParaRPr b="0" i="0" sz="2200" u="none" cap="none" strike="noStrike"/>
          </a:p>
        </p:txBody>
      </p:sp>
      <p:sp>
        <p:nvSpPr>
          <p:cNvPr id="198" name="Google Shape;198;p21"/>
          <p:cNvSpPr/>
          <p:nvPr/>
        </p:nvSpPr>
        <p:spPr>
          <a:xfrm>
            <a:off x="9715738" y="4059555"/>
            <a:ext cx="389393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El color del fondo se superpone, dando la sensación de que solo está el borde coloreado</a:t>
            </a:r>
            <a:endParaRPr b="0" i="0" sz="1750" u="none" cap="none" strike="noStrike"/>
          </a:p>
        </p:txBody>
      </p:sp>
      <p:sp>
        <p:nvSpPr>
          <p:cNvPr id="199" name="Google Shape;199;p21"/>
          <p:cNvSpPr/>
          <p:nvPr/>
        </p:nvSpPr>
        <p:spPr>
          <a:xfrm>
            <a:off x="793790" y="5630228"/>
            <a:ext cx="13042821" cy="1326713"/>
          </a:xfrm>
          <a:prstGeom prst="roundRect">
            <a:avLst>
              <a:gd fmla="val 2565" name="adj"/>
            </a:avLst>
          </a:prstGeom>
          <a:solidFill>
            <a:srgbClr val="001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0604" y="5989558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1530906" y="5913715"/>
            <a:ext cx="1207889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Noto Sans TC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Importante:</a:t>
            </a:r>
            <a:r>
              <a:rPr b="0" i="0" lang="en-US" sz="1750" u="none" cap="none" strike="noStrike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rPr>
              <a:t> Si solo llamamos al gradiente una vez, coloreamos toda la caja. Necesitamos dos llamadas para lograr el efecto de borde de cristal.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 title="nyszew8dj7sfouk-Photoroo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/>
          <p:nvPr/>
        </p:nvSpPr>
        <p:spPr>
          <a:xfrm>
            <a:off x="739140" y="4099441"/>
            <a:ext cx="6477714" cy="1196221"/>
          </a:xfrm>
          <a:prstGeom prst="roundRect">
            <a:avLst>
              <a:gd fmla="val 2648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950238" y="4310539"/>
            <a:ext cx="3066693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Sora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Bordes con degradado</a:t>
            </a:r>
            <a:endParaRPr b="0" i="0" sz="2050" u="none" cap="none" strike="noStrike"/>
          </a:p>
        </p:txBody>
      </p:sp>
      <p:sp>
        <p:nvSpPr>
          <p:cNvPr id="210" name="Google Shape;210;p22"/>
          <p:cNvSpPr/>
          <p:nvPr/>
        </p:nvSpPr>
        <p:spPr>
          <a:xfrm>
            <a:off x="950238" y="4758333"/>
            <a:ext cx="6055519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border-image con linear-gradient para efectos visuales</a:t>
            </a:r>
            <a:endParaRPr b="0" i="0" sz="1650" u="none" cap="none" strike="noStrike"/>
          </a:p>
        </p:txBody>
      </p:sp>
      <p:sp>
        <p:nvSpPr>
          <p:cNvPr id="211" name="Google Shape;211;p22"/>
          <p:cNvSpPr/>
          <p:nvPr/>
        </p:nvSpPr>
        <p:spPr>
          <a:xfrm>
            <a:off x="7413427" y="4099441"/>
            <a:ext cx="6477833" cy="1196221"/>
          </a:xfrm>
          <a:prstGeom prst="roundRect">
            <a:avLst>
              <a:gd fmla="val 2648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7624524" y="4310539"/>
            <a:ext cx="2639735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Sora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Bordes abstractos</a:t>
            </a:r>
            <a:endParaRPr b="0" i="0" sz="2050" u="none" cap="none" strike="noStrike"/>
          </a:p>
        </p:txBody>
      </p:sp>
      <p:sp>
        <p:nvSpPr>
          <p:cNvPr id="213" name="Google Shape;213;p22"/>
          <p:cNvSpPr/>
          <p:nvPr/>
        </p:nvSpPr>
        <p:spPr>
          <a:xfrm>
            <a:off x="7624524" y="4758333"/>
            <a:ext cx="6055638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Sintaxis completa de border-radius con doble eje</a:t>
            </a:r>
            <a:endParaRPr b="0" i="0" sz="1650" u="none" cap="none" strike="noStrike"/>
          </a:p>
        </p:txBody>
      </p:sp>
      <p:sp>
        <p:nvSpPr>
          <p:cNvPr id="214" name="Google Shape;214;p22"/>
          <p:cNvSpPr/>
          <p:nvPr/>
        </p:nvSpPr>
        <p:spPr>
          <a:xfrm>
            <a:off x="739140" y="5492234"/>
            <a:ext cx="6477714" cy="1196221"/>
          </a:xfrm>
          <a:prstGeom prst="roundRect">
            <a:avLst>
              <a:gd fmla="val 2648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950238" y="5703332"/>
            <a:ext cx="2639735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Sora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Bordes animados</a:t>
            </a:r>
            <a:endParaRPr b="0" i="0" sz="2050" u="none" cap="none" strike="noStrike"/>
          </a:p>
        </p:txBody>
      </p:sp>
      <p:sp>
        <p:nvSpPr>
          <p:cNvPr id="216" name="Google Shape;216;p22"/>
          <p:cNvSpPr/>
          <p:nvPr/>
        </p:nvSpPr>
        <p:spPr>
          <a:xfrm>
            <a:off x="950238" y="6151126"/>
            <a:ext cx="6055519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Gradiente cónico en ::before con animación infinita</a:t>
            </a:r>
            <a:endParaRPr b="0" i="0" sz="1650" u="none" cap="none" strike="noStrike"/>
          </a:p>
        </p:txBody>
      </p:sp>
      <p:sp>
        <p:nvSpPr>
          <p:cNvPr id="217" name="Google Shape;217;p22"/>
          <p:cNvSpPr/>
          <p:nvPr/>
        </p:nvSpPr>
        <p:spPr>
          <a:xfrm>
            <a:off x="7413427" y="5492234"/>
            <a:ext cx="6477833" cy="1196221"/>
          </a:xfrm>
          <a:prstGeom prst="roundRect">
            <a:avLst>
              <a:gd fmla="val 2648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7624524" y="5703332"/>
            <a:ext cx="2639735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Sora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Borde de cristal</a:t>
            </a:r>
            <a:endParaRPr b="0" i="0" sz="2050" u="none" cap="none" strike="noStrike"/>
          </a:p>
        </p:txBody>
      </p:sp>
      <p:sp>
        <p:nvSpPr>
          <p:cNvPr id="219" name="Google Shape;219;p22"/>
          <p:cNvSpPr/>
          <p:nvPr/>
        </p:nvSpPr>
        <p:spPr>
          <a:xfrm>
            <a:off x="7624524" y="6151126"/>
            <a:ext cx="6055638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Doble llamada a background para efecto translúcido</a:t>
            </a:r>
            <a:endParaRPr b="0" i="0" sz="1650" u="none" cap="none" strike="noStrike"/>
          </a:p>
        </p:txBody>
      </p:sp>
      <p:sp>
        <p:nvSpPr>
          <p:cNvPr id="220" name="Google Shape;220;p22"/>
          <p:cNvSpPr/>
          <p:nvPr/>
        </p:nvSpPr>
        <p:spPr>
          <a:xfrm>
            <a:off x="739140" y="6909554"/>
            <a:ext cx="13152120" cy="652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Estas propiedades CSS modernas nos permiten crear interfaces más dinámicas, accesibles y visuales sin depender de preprocesadores o JavaScript.</a:t>
            </a:r>
            <a:endParaRPr b="0" i="0" sz="1650" u="none" cap="none" strike="noStrike"/>
          </a:p>
        </p:txBody>
      </p:sp>
      <p:sp>
        <p:nvSpPr>
          <p:cNvPr id="221" name="Google Shape;221;p22"/>
          <p:cNvSpPr/>
          <p:nvPr/>
        </p:nvSpPr>
        <p:spPr>
          <a:xfrm>
            <a:off x="739140" y="667583"/>
            <a:ext cx="13152120" cy="1319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96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150"/>
              <a:buFont typeface="Sora"/>
              <a:buNone/>
            </a:pPr>
            <a:r>
              <a:rPr b="0" i="0" lang="en-US" sz="41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Resumen: Herramientas CSS para Interfaces Modernas</a:t>
            </a:r>
            <a:endParaRPr b="0" i="0" sz="4150" u="none" cap="none" strike="noStrike"/>
          </a:p>
        </p:txBody>
      </p:sp>
      <p:sp>
        <p:nvSpPr>
          <p:cNvPr id="222" name="Google Shape;222;p22"/>
          <p:cNvSpPr/>
          <p:nvPr/>
        </p:nvSpPr>
        <p:spPr>
          <a:xfrm>
            <a:off x="739140" y="2380417"/>
            <a:ext cx="6477714" cy="1522452"/>
          </a:xfrm>
          <a:prstGeom prst="roundRect">
            <a:avLst>
              <a:gd fmla="val 2081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950238" y="2591514"/>
            <a:ext cx="2639735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Sora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color-scheme</a:t>
            </a:r>
            <a:endParaRPr b="0" i="0" sz="2050" u="none" cap="none" strike="noStrike"/>
          </a:p>
        </p:txBody>
      </p:sp>
      <p:sp>
        <p:nvSpPr>
          <p:cNvPr id="224" name="Google Shape;224;p22"/>
          <p:cNvSpPr/>
          <p:nvPr/>
        </p:nvSpPr>
        <p:spPr>
          <a:xfrm>
            <a:off x="950238" y="3039308"/>
            <a:ext cx="6055519" cy="652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Cambio automático de tema respetando preferencias del sistema</a:t>
            </a:r>
            <a:endParaRPr b="0" i="0" sz="1650" u="none" cap="none" strike="noStrike"/>
          </a:p>
        </p:txBody>
      </p:sp>
      <p:sp>
        <p:nvSpPr>
          <p:cNvPr id="225" name="Google Shape;225;p22"/>
          <p:cNvSpPr/>
          <p:nvPr/>
        </p:nvSpPr>
        <p:spPr>
          <a:xfrm>
            <a:off x="7413427" y="2380417"/>
            <a:ext cx="6477833" cy="1522452"/>
          </a:xfrm>
          <a:prstGeom prst="roundRect">
            <a:avLst>
              <a:gd fmla="val 2081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7624524" y="2591514"/>
            <a:ext cx="2639735" cy="32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050"/>
              <a:buFont typeface="Sora"/>
              <a:buNone/>
            </a:pPr>
            <a:r>
              <a:rPr b="0" i="0" lang="en-US" sz="20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color-mix()</a:t>
            </a:r>
            <a:endParaRPr b="0" i="0" sz="2050" u="none" cap="none" strike="noStrike"/>
          </a:p>
        </p:txBody>
      </p:sp>
      <p:sp>
        <p:nvSpPr>
          <p:cNvPr id="227" name="Google Shape;227;p22"/>
          <p:cNvSpPr/>
          <p:nvPr/>
        </p:nvSpPr>
        <p:spPr>
          <a:xfrm>
            <a:off x="7624524" y="3039308"/>
            <a:ext cx="6055638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650"/>
              <a:buFont typeface="Noto Sans TC"/>
              <a:buNone/>
            </a:pPr>
            <a:r>
              <a:rPr b="0" i="0" lang="en-US" sz="16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Mezclas dinámicas en espacios sRGB, LCH y OKLCH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